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0395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9E3082-DD7F-46C9-B3C0-26A20A7EFDF3}" v="1" dt="2025-09-16T14:30:09.9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o Devito" userId="29a4648d-ea33-420e-b39c-921d5aacc980" providerId="ADAL" clId="{CC9E3082-DD7F-46C9-B3C0-26A20A7EFDF3}"/>
    <pc:docChg chg="addSld modSld">
      <pc:chgData name="Lucio Devito" userId="29a4648d-ea33-420e-b39c-921d5aacc980" providerId="ADAL" clId="{CC9E3082-DD7F-46C9-B3C0-26A20A7EFDF3}" dt="2025-09-16T14:30:09.924" v="0"/>
      <pc:docMkLst>
        <pc:docMk/>
      </pc:docMkLst>
      <pc:sldChg chg="add">
        <pc:chgData name="Lucio Devito" userId="29a4648d-ea33-420e-b39c-921d5aacc980" providerId="ADAL" clId="{CC9E3082-DD7F-46C9-B3C0-26A20A7EFDF3}" dt="2025-09-16T14:30:09.924" v="0"/>
        <pc:sldMkLst>
          <pc:docMk/>
          <pc:sldMk cId="4021125883" sldId="214748039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1EF7BC-5D1C-5126-93F2-DFA295B96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9AE779-2C2C-2AB4-C899-F3E682590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A74944-10EB-5B5F-7E3A-8EF06909F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ABC93-6D53-2DC3-15C0-BB5D3ECB7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E203A6-F07B-6140-43B0-E4F81544D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984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8AF2BE-25B5-7E83-8FD8-EDAABABA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D0D899-A7C3-1F10-0299-EEFE5B72B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667518-403C-FFA9-C16B-6D084F2D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3BC5F6-F1F6-2C30-F804-C7A518121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ED7F20-D6AF-F309-9DDF-427A1E23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3338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6A299A-061D-54D3-C3CE-EA37D270A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43C3E9-9AEF-4757-92A5-8F4BE016F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928975-083A-FAF5-1B26-DB192BB0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A0245A-CDCD-362F-8379-EF4B1F92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F5E874-C7DC-933D-135A-05AC9D65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9817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DDB0B-4B34-3622-B055-2BF35C27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27E67D-70B6-2913-CB31-79D35B033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B2E1DA-E915-4F07-67D3-80C0E1E27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ED2B6B-8476-3945-435F-24E8CAAB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5B176F-FEEE-3CC2-3823-7BDCD66A6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A195BF-830F-0374-11E6-4C94C43CE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3045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CE2B9-5208-769F-C614-F23B334E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94B741-4E14-E3FC-7BE5-F0E26C052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7F17B5-648C-3466-E3E3-19B10E50A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937E07-8DAF-D473-D7FB-939ED8435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BE5B63-90AA-B409-745E-46B09F854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A666E0C-59B6-E8AE-EB20-4D81C064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12093BA-F9F8-9D0D-B927-5578EDFF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C06DD5-B806-73FC-9C27-E9D13D976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9012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2609EF-F311-9607-5280-8046779F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1FF28B0-7CFB-7962-DC77-FA99785B0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E0B4FA8-B688-ACB4-21BD-D4E67410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3ECD14F-9AAA-7910-17EB-343AF0DA2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37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A12AB8-17D2-5E8E-D2EF-A9315742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4888528-29D0-92C8-D7C4-1F5EAE925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E1D1DB-5E4C-0346-C313-89B16961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681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226CF-47D9-0D97-0A42-EA282E678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87796D-7DFB-DDF4-1ACA-741AACBC9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B69E65-80EA-F436-4491-87C31E8CC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80BFBE-A06C-10FE-6AD0-838C025A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128501-6FC3-7D3E-5A07-F260329C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BA033F-3CDC-9735-3E11-53FBD359C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111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20CCC-DCF8-864F-64B1-4471B2F9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CC85D02-4BBA-EC50-C4A2-2434822C1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025FC5-993B-ED01-77DB-226079D7B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4B2650-93C0-ECFA-CE48-1B6ED99AF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39EC5B-415F-E643-3285-C470CE297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8B7E1F-B9E0-68E1-A36C-14C34D20F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63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C2F4E-E2A8-FAC6-25EB-5EAB0E03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DB8359-B391-D70A-65EF-E3DF23A1C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7771A7-D44C-28D4-E040-2B0D9CF8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B491A4-6618-8727-472E-5B25F2E52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45045A-C967-CC4E-E17C-C14742DF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372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7C468A4-3A79-3206-1186-79A59151D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8523898-A71A-0971-D60A-3DF90B16A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852351-B096-B8D8-6069-5D280100F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836AD-F818-DF62-182E-0836C0FFD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133135-6B8D-2867-7AC2-FF70965A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4954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4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381B3-4CC5-1F7C-6531-20AFFC958848}"/>
              </a:ext>
            </a:extLst>
          </p:cNvPr>
          <p:cNvSpPr/>
          <p:nvPr userDrawn="1"/>
        </p:nvSpPr>
        <p:spPr>
          <a:xfrm>
            <a:off x="0" y="6267600"/>
            <a:ext cx="12192000" cy="59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8E06D8D-B85A-5051-5299-9E81A889D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259" y="434898"/>
            <a:ext cx="11073161" cy="4683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EE31592-BF95-D5CC-7218-121CD01B33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4988" y="969203"/>
            <a:ext cx="11073161" cy="4683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" name="Text Placeholder 34">
            <a:extLst>
              <a:ext uri="{FF2B5EF4-FFF2-40B4-BE49-F238E27FC236}">
                <a16:creationId xmlns:a16="http://schemas.microsoft.com/office/drawing/2014/main" id="{55356DAB-DED2-61BA-F359-83250B29E9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8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A8738-69EA-6C9C-5808-531478E5AEE2}"/>
              </a:ext>
            </a:extLst>
          </p:cNvPr>
          <p:cNvSpPr txBox="1"/>
          <p:nvPr userDrawn="1"/>
        </p:nvSpPr>
        <p:spPr>
          <a:xfrm>
            <a:off x="264654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9E8D7-793E-9F30-2FB3-966AB33860A6}"/>
              </a:ext>
            </a:extLst>
          </p:cNvPr>
          <p:cNvSpPr txBox="1"/>
          <p:nvPr userDrawn="1"/>
        </p:nvSpPr>
        <p:spPr>
          <a:xfrm>
            <a:off x="5531061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7A89-E7AF-3012-56D2-6288F3FB7AD7}"/>
              </a:ext>
            </a:extLst>
          </p:cNvPr>
          <p:cNvSpPr txBox="1"/>
          <p:nvPr userDrawn="1"/>
        </p:nvSpPr>
        <p:spPr>
          <a:xfrm>
            <a:off x="8440515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CF1603-EBE1-1384-4FEB-6492FB0894FC}"/>
              </a:ext>
            </a:extLst>
          </p:cNvPr>
          <p:cNvSpPr txBox="1"/>
          <p:nvPr userDrawn="1"/>
        </p:nvSpPr>
        <p:spPr>
          <a:xfrm>
            <a:off x="11316719" y="2358189"/>
            <a:ext cx="45719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pPr algn="l"/>
            <a:endParaRPr lang="en-US" sz="1500" b="0" i="0" baseline="0" err="1">
              <a:solidFill>
                <a:schemeClr val="tx1"/>
              </a:solidFill>
            </a:endParaRP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9DD1E27C-2638-DD24-783E-3069B7CFB230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524258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29" name="Text Placeholder 34">
            <a:extLst>
              <a:ext uri="{FF2B5EF4-FFF2-40B4-BE49-F238E27FC236}">
                <a16:creationId xmlns:a16="http://schemas.microsoft.com/office/drawing/2014/main" id="{5688DB4A-06D9-B84D-857A-7078783D7AF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80192" y="1632846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19CB5C77-2E75-CB0C-C3DB-C94675A41A9E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8980192" y="2211470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1" name="Text Placeholder 34">
            <a:extLst>
              <a:ext uri="{FF2B5EF4-FFF2-40B4-BE49-F238E27FC236}">
                <a16:creationId xmlns:a16="http://schemas.microsoft.com/office/drawing/2014/main" id="{93FC9D9B-22DD-A4CC-CD52-A35339732E9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2903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84CC37C8-2506-092A-284B-D746B1FA7BCA}"/>
              </a:ext>
            </a:extLst>
          </p:cNvPr>
          <p:cNvSpPr>
            <a:spLocks noGrp="1"/>
          </p:cNvSpPr>
          <p:nvPr>
            <p:ph sz="half" idx="33"/>
          </p:nvPr>
        </p:nvSpPr>
        <p:spPr>
          <a:xfrm>
            <a:off x="3342903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33" name="Text Placeholder 34">
            <a:extLst>
              <a:ext uri="{FF2B5EF4-FFF2-40B4-BE49-F238E27FC236}">
                <a16:creationId xmlns:a16="http://schemas.microsoft.com/office/drawing/2014/main" id="{2F2ED7B3-21F4-3927-30F8-A78292E4B1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6209" y="1626373"/>
            <a:ext cx="2627957" cy="578624"/>
          </a:xfrm>
          <a:prstGeom prst="round2Same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0" indent="0">
              <a:buNone/>
              <a:defRPr lang="en-US" sz="1800"/>
            </a:lvl1pPr>
          </a:lstStyle>
          <a:p>
            <a:pPr marL="174625" lvl="0" indent="-174625"/>
            <a:r>
              <a:rPr lang="en-GB"/>
              <a:t>Title</a:t>
            </a:r>
            <a:endParaRPr lang="en-US"/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2735364E-A8E5-0BF2-B123-F87077DE38DB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6166209" y="2204997"/>
            <a:ext cx="2627957" cy="3867311"/>
          </a:xfrm>
          <a:prstGeom prst="round2SameRect">
            <a:avLst>
              <a:gd name="adj1" fmla="val 0"/>
              <a:gd name="adj2" fmla="val 3309"/>
            </a:avLst>
          </a:prstGeom>
          <a:solidFill>
            <a:schemeClr val="bg1">
              <a:lumMod val="95000"/>
            </a:schemeClr>
          </a:solidFill>
          <a:ln w="3175">
            <a:noFill/>
          </a:ln>
          <a:effectLst/>
        </p:spPr>
        <p:txBody>
          <a:bodyPr vert="horz" lIns="91440" tIns="182880" rIns="91440" bIns="182880" rtlCol="0">
            <a:noAutofit/>
          </a:bodyPr>
          <a:lstStyle>
            <a:lvl1pPr>
              <a:defRPr lang="en-US" sz="1400"/>
            </a:lvl1pPr>
            <a:lvl2pPr>
              <a:defRPr lang="en-US" sz="12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/>
            </a:lvl5pPr>
          </a:lstStyle>
          <a:p>
            <a:pPr marL="114300" lvl="0" indent="-114300">
              <a:spcAft>
                <a:spcPts val="600"/>
              </a:spcAft>
            </a:pPr>
            <a:r>
              <a:rPr lang="en-US"/>
              <a:t>Click to edit Master text styles</a:t>
            </a:r>
          </a:p>
          <a:p>
            <a:pPr marL="342900" lvl="1" indent="-114300">
              <a:spcAft>
                <a:spcPts val="600"/>
              </a:spcAft>
            </a:pPr>
            <a:r>
              <a:rPr lang="en-US"/>
              <a:t>Second level</a:t>
            </a:r>
          </a:p>
          <a:p>
            <a:pPr marL="571500" lvl="2" indent="-114300">
              <a:spcAft>
                <a:spcPts val="600"/>
              </a:spcAft>
            </a:pPr>
            <a:r>
              <a:rPr lang="en-US"/>
              <a:t>Third level</a:t>
            </a:r>
          </a:p>
          <a:p>
            <a:pPr marL="800100" lvl="3" indent="-114300">
              <a:spcAft>
                <a:spcPts val="600"/>
              </a:spcAft>
            </a:pPr>
            <a:r>
              <a:rPr lang="en-US"/>
              <a:t>Fourth level</a:t>
            </a:r>
          </a:p>
          <a:p>
            <a:pPr marL="1028700" lvl="4" indent="-114300">
              <a:spcAft>
                <a:spcPts val="600"/>
              </a:spcAft>
            </a:pPr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A5B6233-C523-B85D-B625-E37280A0F64D}"/>
              </a:ext>
            </a:extLst>
          </p:cNvPr>
          <p:cNvSpPr txBox="1">
            <a:spLocks/>
          </p:cNvSpPr>
          <p:nvPr userDrawn="1"/>
        </p:nvSpPr>
        <p:spPr>
          <a:xfrm>
            <a:off x="11608420" y="6423101"/>
            <a:ext cx="457200" cy="298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47074F-9C96-8E4E-BE15-789C9B53C458}" type="slidenum">
              <a:rPr lang="en-US" smtClean="0">
                <a:solidFill>
                  <a:schemeClr val="bg1"/>
                </a:solidFill>
              </a:rPr>
              <a:pPr/>
              <a:t>‹Nº›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117D1B-5327-5382-C6D0-00499C338D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988" y="6475603"/>
            <a:ext cx="1591023" cy="16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7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38E2F94-1BC4-114B-0F25-818EADDB5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5E07461-92C4-8BE2-7FB3-542994A32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BCB9B0-952A-7949-68BB-2240A09F8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6FA2C-37D3-493E-BE3E-B778B7D8B7EB}" type="datetimeFigureOut">
              <a:rPr lang="es-ES" smtClean="0"/>
              <a:t>16/09/2025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E7FECF-6D95-6759-5E7E-99C68E8A2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6D8D1F-8560-130A-CF11-AAE9B1751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AEB05-1760-49EF-9519-3C8A2D7E81C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5839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3434930-BF0D-8322-5E2B-158D203F6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572" y="190857"/>
            <a:ext cx="11073161" cy="468351"/>
          </a:xfrm>
        </p:spPr>
        <p:txBody>
          <a:bodyPr>
            <a:normAutofit fontScale="90000"/>
          </a:bodyPr>
          <a:lstStyle/>
          <a:p>
            <a:r>
              <a:rPr lang="en-US" dirty="0"/>
              <a:t>Executive Overview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6255D9A-ED4F-BA52-E78E-B67E682A31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3706" y="1119009"/>
            <a:ext cx="5571742" cy="578624"/>
          </a:xfrm>
        </p:spPr>
        <p:txBody>
          <a:bodyPr/>
          <a:lstStyle/>
          <a:p>
            <a:r>
              <a:rPr lang="en-US" dirty="0"/>
              <a:t>What’s working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9E1A06C9-5B88-ED88-77AE-7F0A520E869A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323647" y="1694226"/>
            <a:ext cx="4478873" cy="4535124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The number of login sessions shows a positive trend over the past 3 years, with a peak in mid-2024 and a recovery in Q1 2025 after the usual Q4 drop. The number of unique users is slowly increasing, showing that more people are using the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Inter"/>
                <a:ea typeface="Inter" panose="02000803000000020004" pitchFamily="50" charset="0"/>
                <a:cs typeface="Inter" panose="02000803000000020004" pitchFamily="50" charset="0"/>
              </a:rPr>
              <a:t>A high number of suppliers registered in Q1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Q1 2025 confirms stable sourcing activity with 149 </a:t>
            </a:r>
            <a:r>
              <a:rPr lang="en-US" sz="1200" dirty="0" err="1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RfX</a:t>
            </a:r>
            <a:r>
              <a:rPr lang="en-US" sz="1200" dirty="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, same level as Q1 2022 and above Q1 2023. Use of (from RFx) is at its highest level in Q1 2025 (56%),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The average number of invited suppliers has reached its highest point in Q1 2025 (6.42), showing improvement and moving closer to JAGGAER’s benchmark of 7. The % of RFQs with only one bidder is decreasing (22% in latest quarter)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Auction activity in Q1 2025 is aligned with Q1 2024 (11 total),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Total contract volume has remained stable over the past years, but Q1 2025 shows a decline compared to recent quarters.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All MCD had been digitally signed</a:t>
            </a:r>
          </a:p>
          <a:p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5486549-40E9-8D0A-68D0-787EC29AE21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068839" y="1111485"/>
            <a:ext cx="5356205" cy="578624"/>
          </a:xfrm>
        </p:spPr>
        <p:txBody>
          <a:bodyPr/>
          <a:lstStyle/>
          <a:p>
            <a:r>
              <a:rPr lang="en-US" dirty="0"/>
              <a:t>Improvement Opportunities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EE38D0D-A210-7FF2-A9F5-6074CD5222B8}"/>
              </a:ext>
            </a:extLst>
          </p:cNvPr>
          <p:cNvSpPr>
            <a:spLocks noGrp="1"/>
          </p:cNvSpPr>
          <p:nvPr>
            <p:ph sz="half" idx="31"/>
          </p:nvPr>
        </p:nvSpPr>
        <p:spPr>
          <a:xfrm>
            <a:off x="5068839" y="1720808"/>
            <a:ext cx="6974614" cy="4508542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182880" rIns="91440" bIns="182880" rtlCol="0" anchor="t">
            <a:noAutofit/>
          </a:bodyPr>
          <a:lstStyle/>
          <a:p>
            <a:pPr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>
                <a:latin typeface="Inter"/>
                <a:ea typeface="Inter" panose="02000803000000020004" pitchFamily="50" charset="0"/>
                <a:cs typeface="Inter" panose="02000803000000020004" pitchFamily="50" charset="0"/>
              </a:rPr>
              <a:t>To better understand the reason why not all registered vendor are enabled, the domain is currently being changed as part of the ongoing revamping</a:t>
            </a:r>
            <a:endParaRPr lang="en-US" sz="1200" dirty="0">
              <a:solidFill>
                <a:srgbClr val="FF0000"/>
              </a:solidFill>
              <a:latin typeface="Inter"/>
              <a:ea typeface="Inter" panose="02000803000000020004" pitchFamily="50" charset="0"/>
              <a:cs typeface="Inter" panose="02000803000000020004" pitchFamily="50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The # of </a:t>
            </a:r>
            <a:r>
              <a:rPr lang="en-US" sz="1200" dirty="0" err="1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RfQs</a:t>
            </a:r>
            <a:r>
              <a:rPr lang="en-US" sz="1200" dirty="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 created from a scratch it’s stable (around 23%) this could be reduced with the Usage of template or create a </a:t>
            </a:r>
            <a:r>
              <a:rPr lang="en-US" sz="1200" dirty="0" err="1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RfX</a:t>
            </a:r>
            <a:r>
              <a:rPr lang="en-US" sz="1200" dirty="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 from a copy, Actions have already been taken in this direction, and relevant documentation has been shared. If there are any doubts, we can review the material together.</a:t>
            </a:r>
            <a:endParaRPr lang="en-US" sz="1200" dirty="0">
              <a:solidFill>
                <a:srgbClr val="FF0000"/>
              </a:solidFill>
              <a:latin typeface="Inter" panose="02000803000000020004" pitchFamily="50" charset="0"/>
              <a:ea typeface="Inter" panose="02000803000000020004" pitchFamily="50" charset="0"/>
              <a:cs typeface="Inter" panose="02000803000000020004" pitchFamily="50" charset="0"/>
            </a:endParaRPr>
          </a:p>
          <a:p>
            <a:pPr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>
                <a:latin typeface="Inter"/>
              </a:rPr>
              <a:t>% of bidders remains stable around 55%, but has dropped to 48% in Q1 2025, suggesting that not all invited suppliers are actually participating. This could be a possible effect of the increase in the number of invited participants.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>
                <a:latin typeface="Inter"/>
              </a:rPr>
              <a:t>Overall auction volume in Q1 remains low compared to the 2023 average. Heavy dependency on IN </a:t>
            </a:r>
            <a:r>
              <a:rPr lang="en-US" sz="1200" dirty="0" err="1">
                <a:latin typeface="Inter"/>
              </a:rPr>
              <a:t>Supergas</a:t>
            </a:r>
            <a:r>
              <a:rPr lang="en-US" sz="1200" dirty="0">
                <a:latin typeface="Inter"/>
              </a:rPr>
              <a:t> (273 auctions), other organizations have very limited adoption (most below 10). Auctions from template are rarely used</a:t>
            </a:r>
          </a:p>
          <a:p>
            <a:pPr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sz="1200" dirty="0">
                <a:latin typeface="Inter"/>
                <a:ea typeface="Inter" panose="02000803000000020004" pitchFamily="50" charset="0"/>
                <a:cs typeface="Inter" panose="02000803000000020004" pitchFamily="50" charset="0"/>
              </a:rPr>
              <a:t>Q1 2025 shows a drop in total contracts (204), lower than previous quarters in 2024, the lowest since Q1 2023. Contract creation process can be improved: no template are being used and contracts are not created from </a:t>
            </a:r>
            <a:r>
              <a:rPr lang="en-US" sz="1200" dirty="0" err="1">
                <a:latin typeface="Inter"/>
                <a:ea typeface="Inter" panose="02000803000000020004" pitchFamily="50" charset="0"/>
                <a:cs typeface="Inter" panose="02000803000000020004" pitchFamily="50" charset="0"/>
              </a:rPr>
              <a:t>Rfx</a:t>
            </a:r>
            <a:r>
              <a:rPr lang="en-US" sz="1200" dirty="0">
                <a:latin typeface="Inter"/>
                <a:ea typeface="Inter" panose="02000803000000020004" pitchFamily="50" charset="0"/>
                <a:cs typeface="Inter" panose="02000803000000020004" pitchFamily="50" charset="0"/>
              </a:rPr>
              <a:t>-auction. Evaluate to Introduce new templates and the usage of the transformation feature in </a:t>
            </a:r>
            <a:r>
              <a:rPr lang="en-US" sz="1200" dirty="0" err="1">
                <a:latin typeface="Inter"/>
                <a:ea typeface="Inter" panose="02000803000000020004" pitchFamily="50" charset="0"/>
                <a:cs typeface="Inter" panose="02000803000000020004" pitchFamily="50" charset="0"/>
              </a:rPr>
              <a:t>RfX</a:t>
            </a:r>
            <a:r>
              <a:rPr lang="en-US" sz="1200" dirty="0">
                <a:latin typeface="Inter"/>
                <a:ea typeface="Inter" panose="02000803000000020004" pitchFamily="50" charset="0"/>
                <a:cs typeface="Inter" panose="02000803000000020004" pitchFamily="50" charset="0"/>
              </a:rPr>
              <a:t> to reduce time and errors</a:t>
            </a:r>
            <a:endParaRPr lang="en-US" sz="1200" dirty="0">
              <a:highlight>
                <a:srgbClr val="FFFF00"/>
              </a:highlight>
              <a:latin typeface="Inter" panose="02000803000000020004" pitchFamily="50" charset="0"/>
              <a:ea typeface="Inter" panose="02000803000000020004" pitchFamily="50" charset="0"/>
              <a:cs typeface="Inter" panose="02000803000000020004" pitchFamily="50" charset="0"/>
            </a:endParaRPr>
          </a:p>
          <a:p>
            <a:pPr marL="171450" lvl="1" indent="-171450"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dirty="0">
                <a:latin typeface="Inter"/>
                <a:ea typeface="Inter" panose="02000803000000020004" pitchFamily="50" charset="0"/>
                <a:cs typeface="Inter" panose="02000803000000020004" pitchFamily="50" charset="0"/>
              </a:rPr>
              <a:t>To better analyze the reason why not all created contract are activated</a:t>
            </a:r>
          </a:p>
          <a:p>
            <a:pPr marL="171450" lvl="1" indent="-171450" algn="just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endParaRPr lang="en-US" sz="1400" dirty="0"/>
          </a:p>
        </p:txBody>
      </p:sp>
      <p:pic>
        <p:nvPicPr>
          <p:cNvPr id="5" name="Picture 2" descr="What Is A Compass? | How Does A Compass Work? | DK Find Out">
            <a:extLst>
              <a:ext uri="{FF2B5EF4-FFF2-40B4-BE49-F238E27FC236}">
                <a16:creationId xmlns:a16="http://schemas.microsoft.com/office/drawing/2014/main" id="{BEB85E53-1FAA-648B-C9E0-EF17EF23A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46" y="0"/>
            <a:ext cx="967633" cy="969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val 26">
            <a:extLst>
              <a:ext uri="{FF2B5EF4-FFF2-40B4-BE49-F238E27FC236}">
                <a16:creationId xmlns:a16="http://schemas.microsoft.com/office/drawing/2014/main" id="{B3F5F4D3-2F09-3B10-3C3A-1319F2BC41F6}"/>
              </a:ext>
            </a:extLst>
          </p:cNvPr>
          <p:cNvSpPr/>
          <p:nvPr/>
        </p:nvSpPr>
        <p:spPr>
          <a:xfrm>
            <a:off x="7552771" y="127847"/>
            <a:ext cx="847907" cy="776173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B406CE29-500D-6006-DEC1-36404C52E2B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329078" y="257689"/>
            <a:ext cx="709388" cy="646331"/>
          </a:xfrm>
          <a:prstGeom prst="rect">
            <a:avLst/>
          </a:prstGeom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ABE0B3AA-B018-EB1A-D333-E9387F77981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891428" y="238637"/>
            <a:ext cx="550823" cy="730566"/>
          </a:xfrm>
          <a:prstGeom prst="rect">
            <a:avLst/>
          </a:prstGeom>
        </p:spPr>
      </p:pic>
      <p:sp>
        <p:nvSpPr>
          <p:cNvPr id="12" name="TextBox 16">
            <a:extLst>
              <a:ext uri="{FF2B5EF4-FFF2-40B4-BE49-F238E27FC236}">
                <a16:creationId xmlns:a16="http://schemas.microsoft.com/office/drawing/2014/main" id="{F9CFA4D4-2411-F32D-2C43-82C9949F904E}"/>
              </a:ext>
            </a:extLst>
          </p:cNvPr>
          <p:cNvSpPr txBox="1"/>
          <p:nvPr/>
        </p:nvSpPr>
        <p:spPr>
          <a:xfrm>
            <a:off x="7215051" y="899609"/>
            <a:ext cx="16641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Supplier Management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46FC8DD6-B9AD-02F4-1E01-4B2A9EB904ED}"/>
              </a:ext>
            </a:extLst>
          </p:cNvPr>
          <p:cNvSpPr txBox="1"/>
          <p:nvPr/>
        </p:nvSpPr>
        <p:spPr>
          <a:xfrm>
            <a:off x="8805835" y="917731"/>
            <a:ext cx="16173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Sourcing</a:t>
            </a: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A866D460-A035-EE20-C1FF-EF80DF99370B}"/>
              </a:ext>
            </a:extLst>
          </p:cNvPr>
          <p:cNvSpPr txBox="1"/>
          <p:nvPr/>
        </p:nvSpPr>
        <p:spPr>
          <a:xfrm>
            <a:off x="10423189" y="957254"/>
            <a:ext cx="1517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Inter" panose="02000803000000020004" pitchFamily="50" charset="0"/>
                <a:ea typeface="Inter" panose="02000803000000020004" pitchFamily="50" charset="0"/>
                <a:cs typeface="Inter" panose="02000803000000020004" pitchFamily="50" charset="0"/>
              </a:rPr>
              <a:t>Contracts</a:t>
            </a:r>
          </a:p>
        </p:txBody>
      </p:sp>
      <p:pic>
        <p:nvPicPr>
          <p:cNvPr id="25" name="Picture 11">
            <a:extLst>
              <a:ext uri="{FF2B5EF4-FFF2-40B4-BE49-F238E27FC236}">
                <a16:creationId xmlns:a16="http://schemas.microsoft.com/office/drawing/2014/main" id="{5DACBA15-8CDF-F835-666B-60E4371B4E3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665704" y="257689"/>
            <a:ext cx="622040" cy="56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1258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BA134681899F4D93FD53BF1729799E" ma:contentTypeVersion="20" ma:contentTypeDescription="Create a new document." ma:contentTypeScope="" ma:versionID="7a144e9c0f7a8e66205f7a1d5ef06f8e">
  <xsd:schema xmlns:xsd="http://www.w3.org/2001/XMLSchema" xmlns:xs="http://www.w3.org/2001/XMLSchema" xmlns:p="http://schemas.microsoft.com/office/2006/metadata/properties" xmlns:ns2="d6db62c4-0963-4222-b922-0ce5fbb2b3ba" xmlns:ns3="53eb39f4-33c6-453d-b7f2-25047aa3e654" targetNamespace="http://schemas.microsoft.com/office/2006/metadata/properties" ma:root="true" ma:fieldsID="faf685dabbc2638ccc295d893b01abfb" ns2:_="" ns3:_="">
    <xsd:import namespace="d6db62c4-0963-4222-b922-0ce5fbb2b3ba"/>
    <xsd:import namespace="53eb39f4-33c6-453d-b7f2-25047aa3e6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Typeofpresent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b62c4-0963-4222-b922-0ce5fbb2b3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94eb55d6-dc06-44ab-a01f-d508de68a2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Typeofpresentation" ma:index="25" nillable="true" ma:displayName="Type of presentation" ma:format="Dropdown" ma:internalName="Typeofpresentation">
      <xsd:simpleType>
        <xsd:restriction base="dms:Text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eb39f4-33c6-453d-b7f2-25047aa3e65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2f1e8ee-95d0-4fec-9ebb-3ddc3c5a0496}" ma:internalName="TaxCatchAll" ma:showField="CatchAllData" ma:web="53eb39f4-33c6-453d-b7f2-25047aa3e6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db62c4-0963-4222-b922-0ce5fbb2b3ba">
      <Terms xmlns="http://schemas.microsoft.com/office/infopath/2007/PartnerControls"/>
    </lcf76f155ced4ddcb4097134ff3c332f>
    <Typeofpresentation xmlns="d6db62c4-0963-4222-b922-0ce5fbb2b3ba" xsi:nil="true"/>
    <TaxCatchAll xmlns="53eb39f4-33c6-453d-b7f2-25047aa3e654" xsi:nil="true"/>
  </documentManagement>
</p:properties>
</file>

<file path=customXml/itemProps1.xml><?xml version="1.0" encoding="utf-8"?>
<ds:datastoreItem xmlns:ds="http://schemas.openxmlformats.org/officeDocument/2006/customXml" ds:itemID="{D88DB26A-64E6-4CB7-AC12-5BDDE7657811}"/>
</file>

<file path=customXml/itemProps2.xml><?xml version="1.0" encoding="utf-8"?>
<ds:datastoreItem xmlns:ds="http://schemas.openxmlformats.org/officeDocument/2006/customXml" ds:itemID="{E20A3192-9AAF-4A59-99AD-D8362F4B1AE6}"/>
</file>

<file path=customXml/itemProps3.xml><?xml version="1.0" encoding="utf-8"?>
<ds:datastoreItem xmlns:ds="http://schemas.openxmlformats.org/officeDocument/2006/customXml" ds:itemID="{C7E7BD85-BA5B-493F-9F97-5A3F2C59C1F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</Words>
  <Application>Microsoft Office PowerPoint</Application>
  <PresentationFormat>Panorámica</PresentationFormat>
  <Paragraphs>19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Inter</vt:lpstr>
      <vt:lpstr>Tema de Office</vt:lpstr>
      <vt:lpstr>Executive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Lucio Devito</dc:creator>
  <cp:lastModifiedBy>Lucio Devito</cp:lastModifiedBy>
  <cp:revision>1</cp:revision>
  <dcterms:created xsi:type="dcterms:W3CDTF">2025-09-16T14:30:07Z</dcterms:created>
  <dcterms:modified xsi:type="dcterms:W3CDTF">2025-09-16T14:30:13Z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0x010100E9BA134681899F4D93FD53BF1729799E</vt:lpwstr>
  </property>
</Properties>
</file>